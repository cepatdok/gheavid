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3" r:id="rId16"/>
    <p:sldId id="274" r:id="rId17"/>
    <p:sldId id="277" r:id="rId18"/>
    <p:sldId id="278" r:id="rId19"/>
    <p:sldId id="265" r:id="rId20"/>
    <p:sldId id="267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-274320"/>
            <a:ext cx="4114800" cy="758952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0" y="502920"/>
            <a:ext cx="2103120" cy="5440680"/>
          </a:xfrm>
          <a:prstGeom prst="roundRect">
            <a:avLst/>
          </a:prstGeom>
          <a:solidFill>
            <a:srgbClr val="191919"/>
          </a:solidFill>
          <a:ln>
            <a:solidFill>
              <a:srgbClr val="BF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55480" y="960120"/>
            <a:ext cx="164592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55480" y="1828800"/>
            <a:ext cx="132588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55480" y="2697480"/>
            <a:ext cx="182880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55480" y="3566160"/>
            <a:ext cx="114300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55480" y="4434840"/>
            <a:ext cx="160020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400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BE1E"/>
                </a:solidFill>
                <a:latin typeface="Aptos"/>
              </a:rPr>
              <a:t>WEBSITE &amp; DIGITAL EXPERIENCE</a:t>
            </a:r>
            <a:endParaRPr sz="12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234440"/>
            <a:ext cx="7223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Penawaran
Pembuatan Website</a:t>
            </a:r>
            <a:endParaRPr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297180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PT Bumi Makmur Wardana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3886200"/>
            <a:ext cx="6309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DCDC"/>
                </a:solidFill>
                <a:latin typeface="Aptos"/>
              </a:rPr>
              <a:t>Website company profile modern dengan visual editorial, eksploratif, dan mudah dipelajari calon customer.</a:t>
            </a:r>
            <a:endParaRPr sz="1600" b="0">
              <a:solidFill>
                <a:srgbClr val="DCDCD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5166360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4B4B4"/>
                </a:solidFill>
                <a:latin typeface="Aptos"/>
              </a:rPr>
              <a:t>Disusun oleh</a:t>
            </a:r>
            <a:endParaRPr sz="1000" b="0">
              <a:solidFill>
                <a:srgbClr val="B4B4B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548640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Rachmad Hidayat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5833872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BEBE"/>
                </a:solidFill>
                <a:latin typeface="Aptos"/>
              </a:rPr>
              <a:t>madxartwork.eu.org  •  082136699927</a:t>
            </a:r>
            <a:endParaRPr sz="1000" b="0">
              <a:solidFill>
                <a:srgbClr val="BEBEB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Website bukan sekadar profil — tapi alat edukasi &amp; konversi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2004568"/>
            <a:ext cx="105156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Arah visual mengacu pada pendekatan experience-driven seperti referensi Elva: kuat di storytelling, karya/layanan sebagai fokus, dan navigasi yang sederhana. </a:t>
            </a:r>
            <a:endParaRPr sz="13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3256280"/>
            <a:ext cx="374903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Aptos"/>
              </a:rPr>
              <a:t>Dari “apa yang kami kerjakan”
menjadi “mengapa layanan ini penting bagi Anda”.</a:t>
            </a:r>
            <a:endParaRPr sz="2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3164840"/>
            <a:ext cx="205740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3393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9124"/>
                </a:solidFill>
                <a:latin typeface="Aptos"/>
              </a:rPr>
              <a:t>01</a:t>
            </a:r>
            <a:endParaRPr sz="11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7760" y="383235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Visual-first</a:t>
            </a:r>
            <a:endParaRPr sz="1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0" y="4417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Hero yang kuat, tipografi tegas, foto/ilustrasi, dan komposisi yang terasa premium.</a:t>
            </a:r>
            <a:endParaRPr sz="11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86600" y="3164840"/>
            <a:ext cx="205740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393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9124"/>
                </a:solidFill>
                <a:latin typeface="Aptos"/>
              </a:rPr>
              <a:t>02</a:t>
            </a:r>
            <a:endParaRPr sz="11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69480" y="383235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Service-led</a:t>
            </a:r>
            <a:endParaRPr sz="1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69480" y="4417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Setiap layanan punya halaman penjelasan yang mudah dipahami calon client.</a:t>
            </a:r>
            <a:endParaRPr sz="11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418320" y="3164840"/>
            <a:ext cx="205740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393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9124"/>
                </a:solidFill>
                <a:latin typeface="Aptos"/>
              </a:rPr>
              <a:t>03</a:t>
            </a:r>
            <a:endParaRPr sz="11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0" y="383235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Trust-building</a:t>
            </a:r>
            <a:endParaRPr sz="1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0" y="4417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Profil, pengalaman, client, proses kerja, dan CTA disusun untuk membangun keyakinan.</a:t>
            </a:r>
            <a:endParaRPr sz="11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Struktur website yang membuat calon customer mudah menjelajah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35353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Satu alur sederhana: kenal perusahaan → pahami layanan → baca detail → percaya → hubungi.</a:t>
            </a:r>
            <a:endParaRPr sz="13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72034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20340"/>
            <a:ext cx="91440" cy="91440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49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HOME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19582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First impression + value proposition + highlight layanan + CTA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272034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20340"/>
            <a:ext cx="91440" cy="91440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8849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COMPANY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319582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Profil, visi-misi, nilai, pengalaman &amp; alasan memilih Bumi Makmur Wardana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90906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09060"/>
            <a:ext cx="91440" cy="91440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7365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SERVICES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438454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Grid seluruh layanan dengan visual yang konsisten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90906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09060"/>
            <a:ext cx="91440" cy="91440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7365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SERVICE DETAIL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438454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Artikel edukatif untuk menjelaskan masalah, solusi, proses &amp; manfaat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509778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097780"/>
            <a:ext cx="91440" cy="91440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623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CLIENTS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557326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Daftar/portfolio client &amp; assignment sebagai social proof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509778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097780"/>
            <a:ext cx="91440" cy="914400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6237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CONTACT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5573268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Form, WhatsApp, email, lokasi &amp; CTA konsultasi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Layanan dibuat “clickable” dan dijelaskan dengan bahasa customer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951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01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62432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Business Permit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309067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Pengurusan dokumen perizinan dari izin investasi hingga operasional usaha.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83280" y="214884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2951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02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47872" y="262432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Land Acquisition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7872" y="309067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Persiapan lahan untuk area bisnis sesuai kebutuhan topografi dan pengembangan.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2951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03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8231" y="262432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Labour Service &amp; Security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8231" y="309067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Penyediaan tenaga kerja harian/kontrak dan security bersertifikat.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0" y="214884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22951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04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08592" y="262432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CSR Planning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08592" y="309067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Perencanaan CSR berbasis pemetaan sosial di sekitar lokasi usaha.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402336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1696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05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" y="44988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AR Management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7512" y="496519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Pengelolaan piutang untuk meningkatkan kepatuhan pembayaran dan menangani piutang macet.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383280" y="402336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41696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06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47872" y="44988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Tax Consulting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47872" y="496519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Konsultasi perpajakan untuk menjaga kepatuhan dan efisiensi.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402336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41696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07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8231" y="44988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Product Counterfeiting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28231" y="496519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Investigator &amp; penanganan proses litigasi untuk pemalsuan produk.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44000" y="4023360"/>
            <a:ext cx="260604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41696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F9124"/>
                </a:solidFill>
                <a:latin typeface="Aptos"/>
              </a:rPr>
              <a:t>08</a:t>
            </a:r>
            <a:endParaRPr sz="9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8592" y="44988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ptos"/>
              </a:rPr>
              <a:t>Compliance Audit</a:t>
            </a:r>
            <a:endParaRPr sz="13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08592" y="4965192"/>
            <a:ext cx="21945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Aptos"/>
              </a:rPr>
              <a:t>Audit kepatuhan agar aktivitas berjalan sesuai SOP perusahaan.</a:t>
            </a:r>
            <a:endParaRPr sz="9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Setiap service punya artikel yang menjawab pertanyaan calon customer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5376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Format artikel dirancang sebagai mini knowledge base sekaligus landing page layanan.</a:t>
            </a:r>
            <a:endParaRPr sz="13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593340"/>
            <a:ext cx="65836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867660"/>
            <a:ext cx="1417320" cy="310896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594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Aptos"/>
              </a:rPr>
              <a:t>BUSINESS PERMIT</a:t>
            </a:r>
            <a:endParaRPr sz="1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416300"/>
            <a:ext cx="5715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91919"/>
                </a:solidFill>
                <a:latin typeface="Aptos"/>
              </a:rPr>
              <a:t>Business Permit:
Perizinan Usaha Tanpa Ribet</a:t>
            </a:r>
            <a:endParaRPr sz="2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266691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Aptos"/>
              </a:rPr>
              <a:t>Apa yang diurus?  •  Siapa yang membutuhkan?  •  Dokumen apa saja?</a:t>
            </a:r>
            <a:endParaRPr sz="1100" b="1">
              <a:solidFill>
                <a:srgbClr val="666666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879340"/>
            <a:ext cx="5852160" cy="0"/>
          </a:xfrm>
          <a:prstGeom prst="line">
            <a:avLst/>
          </a:prstGeom>
          <a:ln w="1270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126228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Artikel menjelaskan konteks masalah, tahapan layanan, manfaat, hal yang perlu disiapkan, dan CTA untuk konsultasi.</a:t>
            </a:r>
            <a:endParaRPr sz="11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26679" y="2639060"/>
            <a:ext cx="3566160" cy="50292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1" y="275793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BE1E"/>
                </a:solidFill>
                <a:latin typeface="Aptos"/>
              </a:rPr>
              <a:t>Problem</a:t>
            </a:r>
            <a:endParaRPr sz="9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0" y="27487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Masalah yang umum terjadi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26679" y="3297428"/>
            <a:ext cx="3566160" cy="50292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341630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BE1E"/>
                </a:solidFill>
                <a:latin typeface="Aptos"/>
              </a:rPr>
              <a:t>Solution</a:t>
            </a:r>
            <a:endParaRPr sz="9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78240" y="340715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Bagaimana BMW membantu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26679" y="3955796"/>
            <a:ext cx="3566160" cy="50292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4074668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BE1E"/>
                </a:solidFill>
                <a:latin typeface="Aptos"/>
              </a:rPr>
              <a:t>Process</a:t>
            </a:r>
            <a:endParaRPr sz="9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78240" y="4065524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Tahapan &amp; dokumen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26679" y="4614164"/>
            <a:ext cx="3566160" cy="50292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4733036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BE1E"/>
                </a:solidFill>
                <a:latin typeface="Aptos"/>
              </a:rPr>
              <a:t>Benefit</a:t>
            </a:r>
            <a:endParaRPr sz="9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78240" y="472389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Dampak untuk bisnis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26679" y="5272531"/>
            <a:ext cx="3566160" cy="50292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1" y="5391403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BE1E"/>
                </a:solidFill>
                <a:latin typeface="Aptos"/>
              </a:rPr>
              <a:t>CTA</a:t>
            </a:r>
            <a:endParaRPr sz="9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78240" y="5382259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Konsultasi / WhatsApp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10 topik artikel layanan siap dikembangkan untuk website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85416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1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6152" y="2139696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Business Permit — Panduan Perizinan Usaha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7" y="2185416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2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3992" y="2139696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Land Acquisition — Menyiapkan Lahan untuk Bisnis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2916936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95351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3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16152" y="290779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Labour Service &amp; Security — SDM &amp; Keamanan Operasional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2916936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2953512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4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93992" y="290779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CSR Planning — CSR Berbasis Pemetaan Sosial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685032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21608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5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16152" y="3675888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AR Management — Mengelola Piutang &amp; Cash Flow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685032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7" y="3721608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6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93992" y="3675888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Tax Consulting — Kepatuhan Pajak yang Efisien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4453128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489704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7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16152" y="4443984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Product Counterfeiting — Perlindungan dari Produk Palsu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63640" y="4453128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7" y="4489704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8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93992" y="4443984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Compliance Audit — Memastikan Bisnis Sesuai SOP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" y="5221224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257800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9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16152" y="5212080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Company Profile — Mengapa Bumi Makmur Wardana?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63640" y="5221224"/>
            <a:ext cx="347472" cy="34747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7" y="5257800"/>
            <a:ext cx="310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Aptos"/>
              </a:rPr>
              <a:t>10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93992" y="5212080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FAQ — Pertanyaan Umum Seputar Layanan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Ruang lingkup pengerjaan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31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UI/UX &amp; Visual Direction</a:t>
            </a:r>
            <a:endParaRPr sz="1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2807208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Konsep tampilan, layout, tipografi, warna, komponen &amp; responsive design.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331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Website Development</a:t>
            </a:r>
            <a:endParaRPr sz="1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008" y="2807208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Implementasi website company profile yang responsive untuk desktop &amp; mobile.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331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Service Pages</a:t>
            </a:r>
            <a:endParaRPr sz="1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0768" y="2807208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8 halaman layanan utama dengan struktur yang konsisten.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2062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Article / Education</a:t>
            </a:r>
            <a:endParaRPr sz="1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7" y="4681728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10 artikel/topik edukasi sebagai draft konten dasar; copy dapat disempurnakan bersama.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34840" y="4023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42062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Basic SEO</a:t>
            </a:r>
            <a:endParaRPr sz="1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6008" y="4681728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Struktur heading, metadata dasar, URL yang rapi, dan indexable page setup.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0" y="4023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42062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Contact &amp; CTA</a:t>
            </a:r>
            <a:endParaRPr sz="14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30768" y="4681728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WhatsApp CTA, contact form, email, dan elemen konversi dasar.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Alur kerja yang ringkas dan terukur</a:t>
            </a:r>
            <a:endParaRPr sz="30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051560" y="3246120"/>
            <a:ext cx="10012680" cy="0"/>
          </a:xfrm>
          <a:prstGeom prst="line">
            <a:avLst/>
          </a:prstGeom>
          <a:ln w="25400">
            <a:solidFill>
              <a:srgbClr val="BF9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907792"/>
            <a:ext cx="658368" cy="658368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01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7673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Discovery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BEBE"/>
                </a:solidFill>
                <a:latin typeface="Aptos"/>
              </a:rPr>
              <a:t>Kumpulkan materi, kebutuhan &amp; target customer</a:t>
            </a:r>
            <a:endParaRPr sz="1000" b="0">
              <a:solidFill>
                <a:srgbClr val="BEBEBE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26080" y="2907792"/>
            <a:ext cx="658368" cy="658368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06324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02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6080" y="37673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Direction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422452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BEBE"/>
                </a:solidFill>
                <a:latin typeface="Aptos"/>
              </a:rPr>
              <a:t>Wireframe + visual direction + sitemap</a:t>
            </a:r>
            <a:endParaRPr sz="1000" b="0">
              <a:solidFill>
                <a:srgbClr val="BEBEBE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12080" y="2907792"/>
            <a:ext cx="658368" cy="658368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06324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03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12080" y="37673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Build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422452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BEBE"/>
                </a:solidFill>
                <a:latin typeface="Aptos"/>
              </a:rPr>
              <a:t>Development responsive + service pages</a:t>
            </a:r>
            <a:endParaRPr sz="1000" b="0">
              <a:solidFill>
                <a:srgbClr val="BEBEB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79" y="2907792"/>
            <a:ext cx="658368" cy="658368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06324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04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79" y="37673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Content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422452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BEBE"/>
                </a:solidFill>
                <a:latin typeface="Aptos"/>
              </a:rPr>
              <a:t>Masukkan artikel, profil, client &amp; CTA</a:t>
            </a:r>
            <a:endParaRPr sz="1000" b="0">
              <a:solidFill>
                <a:srgbClr val="BEBEBE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784080" y="2907792"/>
            <a:ext cx="658368" cy="658368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06324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05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84080" y="376732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QA &amp; Launch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84080" y="4224528"/>
            <a:ext cx="1965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EBEBE"/>
                </a:solidFill>
                <a:latin typeface="Aptos"/>
              </a:rPr>
              <a:t>Testing, revisi, optimasi dasar &amp; publish</a:t>
            </a:r>
            <a:endParaRPr sz="1000" b="0">
              <a:solidFill>
                <a:srgbClr val="BEBEBE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55321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BE1E"/>
                </a:solidFill>
                <a:latin typeface="Aptos"/>
              </a:rPr>
              <a:t>Estimasi durasi: ± 14–21 hari kerja setelah materi &amp; feedback tersedia.</a:t>
            </a:r>
            <a:endParaRPr sz="12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Kenapa pendekatan ini relevan untuk Bumi Makmur Wardana?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166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350008"/>
            <a:ext cx="457200" cy="457200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45973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✓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2350008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Lebih mudah dipahami</a:t>
            </a:r>
            <a:endParaRPr sz="15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770632"/>
            <a:ext cx="3886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Calon customer tidak harus menebak fungsi tiap layanan.</a:t>
            </a:r>
            <a:endParaRPr sz="10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166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350008"/>
            <a:ext cx="457200" cy="457200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45973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✓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86600" y="2350008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Lebih meyakinkan</a:t>
            </a:r>
            <a:endParaRPr sz="15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770632"/>
            <a:ext cx="3886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Profil, client, pengalaman, dan penjelasan layanan membentuk trust.</a:t>
            </a:r>
            <a:endParaRPr sz="10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5166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4041648"/>
            <a:ext cx="457200" cy="457200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15137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✓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041648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Lebih mudah ditemukan</a:t>
            </a:r>
            <a:endParaRPr sz="15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08760" y="4462272"/>
            <a:ext cx="3886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Artikel layanan membuka peluang traffic dari pencarian organik.</a:t>
            </a:r>
            <a:endParaRPr sz="10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1663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041648"/>
            <a:ext cx="457200" cy="457200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415137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✓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6600" y="4041648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Lebih mudah dikonversi</a:t>
            </a:r>
            <a:endParaRPr sz="15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4462272"/>
            <a:ext cx="3886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Aptos"/>
              </a:rPr>
              <a:t>CTA ditempatkan setelah customer memahami nilai layanan.</a:t>
            </a:r>
            <a:endParaRPr sz="105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Mockup — Homepage</a:t>
            </a:r>
            <a:endParaRPr sz="2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603121"/>
            <a:ext cx="7315200" cy="429768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20825"/>
            <a:ext cx="7315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20825"/>
            <a:ext cx="7315200" cy="310896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30553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30553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0704" y="1630553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1603121"/>
            <a:ext cx="6400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bumimakmurwardana.com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996313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BMW</a:t>
            </a:r>
            <a:endParaRPr sz="1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014601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6969"/>
                </a:solidFill>
                <a:latin typeface="Aptos"/>
              </a:rPr>
              <a:t>COMPANY    SERVICES    ARTICLES    CLIENTS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0" y="1959737"/>
            <a:ext cx="868680" cy="25603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23745"/>
            <a:ext cx="8686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CONTACT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2499233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BUSINESS
SOLUTIONS</a:t>
            </a:r>
            <a:endParaRPr sz="25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386201"/>
            <a:ext cx="3474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Solusi bisnis terintegrasi untuk membantu perusahaan bergerak lebih cepat.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4400" y="3962273"/>
            <a:ext cx="1234440" cy="329184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44569"/>
            <a:ext cx="12344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EXPLORE SERVICES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46320" y="2435225"/>
            <a:ext cx="2697480" cy="2331720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509645"/>
            <a:ext cx="2697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96969"/>
                </a:solidFill>
                <a:latin typeface="Aptos"/>
              </a:rPr>
              <a:t>HERO VISUAL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4785233"/>
            <a:ext cx="6675120" cy="658368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68113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5BE1E"/>
                </a:solidFill>
                <a:latin typeface="Aptos"/>
              </a:rPr>
              <a:t>8 CORE SERVICES</a:t>
            </a:r>
            <a:endParaRPr sz="8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54679" y="4968113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ptos"/>
              </a:rPr>
              <a:t>Permit • Land • Labour • CSR • AR • Tax • Anti-Counterfeit • Audit</a:t>
            </a:r>
            <a:endParaRPr sz="75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22208" y="1603121"/>
            <a:ext cx="2971800" cy="429768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58200" y="1520825"/>
            <a:ext cx="2971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24060" y="1612265"/>
            <a:ext cx="640080" cy="109728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504" y="1667129"/>
            <a:ext cx="2679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" b="0">
                <a:solidFill>
                  <a:srgbClr val="696969"/>
                </a:solidFill>
                <a:latin typeface="Aptos"/>
              </a:rPr>
              <a:t>9:41     ▪︎  ▪︎  ▪︎</a:t>
            </a:r>
            <a:endParaRPr sz="5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41080" y="1950593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Aptos"/>
              </a:rPr>
              <a:t>BMW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808207" y="1932305"/>
            <a:ext cx="292608" cy="219456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8207" y="1959736"/>
            <a:ext cx="29260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☰</a:t>
            </a:r>
            <a:endParaRPr sz="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86800" y="2407793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1919"/>
                </a:solidFill>
                <a:latin typeface="Aptos"/>
              </a:rPr>
              <a:t>BUSINESS
SOLUTIONS</a:t>
            </a:r>
            <a:endParaRPr sz="2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86800" y="3367913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Solusi bisnis terintegrasi untuk kebutuhan perusahaan.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686800" y="3962273"/>
            <a:ext cx="1234440" cy="320040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044569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Aptos"/>
              </a:rPr>
              <a:t>EXPLORE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686800" y="4446905"/>
            <a:ext cx="2514600" cy="914400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812665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96969"/>
                </a:solidFill>
                <a:latin typeface="Aptos"/>
              </a:rPr>
              <a:t>HERO VISUAL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86800" y="5516753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Aptos"/>
              </a:rPr>
              <a:t>OUR SERVICES</a:t>
            </a:r>
            <a:endParaRPr sz="8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686800" y="5791073"/>
            <a:ext cx="2514600" cy="228600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05672" y="5836793"/>
            <a:ext cx="20116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191919"/>
                </a:solidFill>
                <a:latin typeface="Aptos"/>
              </a:rPr>
              <a:t>Business Permit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686800" y="6101969"/>
            <a:ext cx="2514600" cy="228600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5672" y="6147689"/>
            <a:ext cx="20116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191919"/>
                </a:solidFill>
                <a:latin typeface="Aptos"/>
              </a:rPr>
              <a:t>Land Acquisition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686800" y="6412865"/>
            <a:ext cx="2514600" cy="228600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05672" y="6458585"/>
            <a:ext cx="20116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191919"/>
                </a:solidFill>
                <a:latin typeface="Aptos"/>
              </a:rPr>
              <a:t>Labour &amp; Security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0080" y="5891657"/>
            <a:ext cx="10881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Desktop + mobile: struktur sama, namun layout dipadatkan agar CTA dan layanan tetap mudah dipindai.</a:t>
            </a:r>
            <a:endParaRPr sz="850" b="0">
              <a:solidFill>
                <a:srgbClr val="6969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Mockup — Services Explorer</a:t>
            </a:r>
            <a:endParaRPr sz="2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Calon customer dapat melihat semua layanan secara visual lalu masuk ke halaman detail.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048255"/>
            <a:ext cx="7315200" cy="438912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7315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7315200" cy="310896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7568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07568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0704" y="207568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048255"/>
            <a:ext cx="6400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bumimakmurwardana.com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BMW</a:t>
            </a:r>
            <a:endParaRPr sz="1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459736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6969"/>
                </a:solidFill>
                <a:latin typeface="Aptos"/>
              </a:rPr>
              <a:t>COMPANY    SERVICES    ARTICLES    CLIENTS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0" y="2404872"/>
            <a:ext cx="868680" cy="25603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79"/>
            <a:ext cx="8686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CONTACT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WHAT CAN WE HELP WITH?</a:t>
            </a:r>
            <a:endParaRPr sz="2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Pilih kebutuhan Anda dan pelajari solusinya.</a:t>
            </a:r>
            <a:endParaRPr sz="8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4400" y="3831335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22775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01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3922775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BUSINESS PERMIT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60520" y="3831335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922775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02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4880" y="3922775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LAND ACQUISITION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4400" y="4453127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544567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03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4544567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LABOUR &amp; SECURITY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60520" y="4453127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544567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04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80" y="4544567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CSR PLANNING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14400" y="5074920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166359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05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08760" y="5166359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AR MANAGEMENT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160520" y="5074920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5166359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06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54880" y="5166359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TAX CONSULTING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14400" y="5696712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788151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07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08760" y="578815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ANTI-COUNTERFEIT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60520" y="5696712"/>
            <a:ext cx="30175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5788151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08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54880" y="578815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1">
                <a:solidFill>
                  <a:srgbClr val="191919"/>
                </a:solidFill>
                <a:latin typeface="Aptos"/>
              </a:rPr>
              <a:t>COMPLIANCE AUDIT</a:t>
            </a:r>
            <a:endParaRPr sz="7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522208" y="2048255"/>
            <a:ext cx="2971800" cy="438912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58200" y="1965960"/>
            <a:ext cx="2971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24060" y="2057400"/>
            <a:ext cx="640080" cy="109728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04504" y="2112264"/>
            <a:ext cx="2679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" b="0">
                <a:solidFill>
                  <a:srgbClr val="696969"/>
                </a:solidFill>
                <a:latin typeface="Aptos"/>
              </a:rPr>
              <a:t>9:41     ▪︎  ▪︎  ▪︎</a:t>
            </a:r>
            <a:endParaRPr sz="5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41080" y="2395727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Aptos"/>
              </a:rPr>
              <a:t>BMW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808207" y="2377439"/>
            <a:ext cx="292608" cy="219456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08207" y="2404871"/>
            <a:ext cx="29260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☰</a:t>
            </a:r>
            <a:endParaRPr sz="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86800" y="2825496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WHAT CAN
WE HELP WITH?</a:t>
            </a:r>
            <a:endParaRPr sz="1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686800" y="3538728"/>
            <a:ext cx="251460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05672" y="361188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50" b="1">
                <a:solidFill>
                  <a:srgbClr val="BF9124"/>
                </a:solidFill>
                <a:latin typeface="Aptos"/>
              </a:rPr>
              <a:t>01</a:t>
            </a:r>
            <a:endParaRPr sz="5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4000" y="3602736"/>
            <a:ext cx="18288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91919"/>
                </a:solidFill>
                <a:latin typeface="Aptos"/>
              </a:rPr>
              <a:t>BUSINESS PERMIT</a:t>
            </a:r>
            <a:endParaRPr sz="6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686800" y="3977639"/>
            <a:ext cx="251460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05672" y="4050791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50" b="1">
                <a:solidFill>
                  <a:srgbClr val="BF9124"/>
                </a:solidFill>
                <a:latin typeface="Aptos"/>
              </a:rPr>
              <a:t>02</a:t>
            </a:r>
            <a:endParaRPr sz="5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0" y="4041648"/>
            <a:ext cx="18288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91919"/>
                </a:solidFill>
                <a:latin typeface="Aptos"/>
              </a:rPr>
              <a:t>LAND ACQUISITION</a:t>
            </a:r>
            <a:endParaRPr sz="6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86800" y="4416552"/>
            <a:ext cx="251460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05672" y="4489704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50" b="1">
                <a:solidFill>
                  <a:srgbClr val="BF9124"/>
                </a:solidFill>
                <a:latin typeface="Aptos"/>
              </a:rPr>
              <a:t>03</a:t>
            </a:r>
            <a:endParaRPr sz="5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44000" y="4480560"/>
            <a:ext cx="18288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91919"/>
                </a:solidFill>
                <a:latin typeface="Aptos"/>
              </a:rPr>
              <a:t>LABOUR &amp; SECURITY</a:t>
            </a:r>
            <a:endParaRPr sz="6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686800" y="4855464"/>
            <a:ext cx="251460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05672" y="4928616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50" b="1">
                <a:solidFill>
                  <a:srgbClr val="BF9124"/>
                </a:solidFill>
                <a:latin typeface="Aptos"/>
              </a:rPr>
              <a:t>04</a:t>
            </a:r>
            <a:endParaRPr sz="5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44000" y="4919472"/>
            <a:ext cx="18288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91919"/>
                </a:solidFill>
                <a:latin typeface="Aptos"/>
              </a:rPr>
              <a:t>CSR PLANNING</a:t>
            </a:r>
            <a:endParaRPr sz="6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686800" y="5294376"/>
            <a:ext cx="251460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05672" y="5367528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50" b="1">
                <a:solidFill>
                  <a:srgbClr val="BF9124"/>
                </a:solidFill>
                <a:latin typeface="Aptos"/>
              </a:rPr>
              <a:t>05</a:t>
            </a:r>
            <a:endParaRPr sz="5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144000" y="5358384"/>
            <a:ext cx="18288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91919"/>
                </a:solidFill>
                <a:latin typeface="Aptos"/>
              </a:rPr>
              <a:t>AR MANAGEMENT</a:t>
            </a:r>
            <a:endParaRPr sz="6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686800" y="5733288"/>
            <a:ext cx="251460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05672" y="5806440"/>
            <a:ext cx="228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50" b="1">
                <a:solidFill>
                  <a:srgbClr val="BF9124"/>
                </a:solidFill>
                <a:latin typeface="Aptos"/>
              </a:rPr>
              <a:t>06</a:t>
            </a:r>
            <a:endParaRPr sz="5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44000" y="5797296"/>
            <a:ext cx="182880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1">
                <a:solidFill>
                  <a:srgbClr val="191919"/>
                </a:solidFill>
                <a:latin typeface="Aptos"/>
              </a:rPr>
              <a:t>TAX CONSULTING</a:t>
            </a:r>
            <a:endParaRPr sz="62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686800" y="62636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BF9124"/>
                </a:solidFill>
                <a:latin typeface="Aptos"/>
              </a:rPr>
              <a:t>View all services →</a:t>
            </a:r>
            <a:endParaRPr sz="7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0080" y="6382512"/>
            <a:ext cx="10881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Desktop memakai grid 2 kolom; mobile berubah menjadi list yang cepat discan.</a:t>
            </a:r>
            <a:endParaRPr sz="850" b="0">
              <a:solidFill>
                <a:srgbClr val="6969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7705" y="50876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Mockup — Service Detail + Article</a:t>
            </a:r>
            <a:endParaRPr sz="2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7705" y="104825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Halaman layanan berfungsi seperti landing page edukatif: menjawab masalah, proses, manfaat, lalu mengarahkan ke konsultasi.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1713" y="1569465"/>
            <a:ext cx="7315200" cy="438912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7705" y="1487170"/>
            <a:ext cx="7315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7705" y="1487170"/>
            <a:ext cx="7315200" cy="310896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4865" y="159689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9457" y="159689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54049" y="159689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6073" y="1569465"/>
            <a:ext cx="6400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bumimakmurwardana.com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7745" y="196265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BMW</a:t>
            </a:r>
            <a:endParaRPr sz="1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3745" y="1980946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6969"/>
                </a:solidFill>
                <a:latin typeface="Aptos"/>
              </a:rPr>
              <a:t>COMPANY    SERVICES    ARTICLES    CLIENTS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7025" y="1926082"/>
            <a:ext cx="868680" cy="25603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7025" y="1990089"/>
            <a:ext cx="8686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CONTACT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07745" y="2374138"/>
            <a:ext cx="1143000" cy="25603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745" y="2429001"/>
            <a:ext cx="11430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" b="1">
                <a:solidFill>
                  <a:srgbClr val="191919"/>
                </a:solidFill>
                <a:latin typeface="Aptos"/>
              </a:rPr>
              <a:t>BUSINESS PERMIT</a:t>
            </a:r>
            <a:endParaRPr sz="6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7745" y="2767330"/>
            <a:ext cx="4023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1919"/>
                </a:solidFill>
                <a:latin typeface="Aptos"/>
              </a:rPr>
              <a:t>Perizinan Usaha
Tanpa Ribet</a:t>
            </a:r>
            <a:endParaRPr sz="1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7745" y="3443986"/>
            <a:ext cx="36576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Pahami izin yang dibutuhkan, dokumen, proses, dan estimasi tahapan.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07745" y="4111498"/>
            <a:ext cx="1188720" cy="310896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7745" y="4193793"/>
            <a:ext cx="11887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KONSULTASI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68265" y="2374138"/>
            <a:ext cx="2468880" cy="1828800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8265" y="3197098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96969"/>
                </a:solidFill>
                <a:latin typeface="Aptos"/>
              </a:rPr>
              <a:t>SERVICE VISUAL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7745" y="484301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01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7745" y="505333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The Problem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3665" y="484301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02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53665" y="505333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Our Solution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99585" y="484301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03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99585" y="505333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Process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5505" y="484301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1">
                <a:solidFill>
                  <a:srgbClr val="BF9124"/>
                </a:solidFill>
                <a:latin typeface="Aptos"/>
              </a:rPr>
              <a:t>04</a:t>
            </a:r>
            <a:endParaRPr sz="65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5505" y="505333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Benefits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15553" y="1569465"/>
            <a:ext cx="2971800" cy="438912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51545" y="1487170"/>
            <a:ext cx="2971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17405" y="1578610"/>
            <a:ext cx="640080" cy="109728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97849" y="1633474"/>
            <a:ext cx="2679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" b="0">
                <a:solidFill>
                  <a:srgbClr val="696969"/>
                </a:solidFill>
                <a:latin typeface="Aptos"/>
              </a:rPr>
              <a:t>9:41     ▪︎  ▪︎  ▪︎</a:t>
            </a:r>
            <a:endParaRPr sz="5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34425" y="1916937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Aptos"/>
              </a:rPr>
              <a:t>BMW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901552" y="1898649"/>
            <a:ext cx="292608" cy="219456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01552" y="1926081"/>
            <a:ext cx="29260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☰</a:t>
            </a:r>
            <a:endParaRPr sz="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780145" y="2374138"/>
            <a:ext cx="1143000" cy="25603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0145" y="2429001"/>
            <a:ext cx="11430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" b="1">
                <a:solidFill>
                  <a:srgbClr val="191919"/>
                </a:solidFill>
                <a:latin typeface="Aptos"/>
              </a:rPr>
              <a:t>BUSINESS PERMIT</a:t>
            </a:r>
            <a:endParaRPr sz="6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80145" y="2785618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Perizinan Usaha
Tanpa Ribet</a:t>
            </a:r>
            <a:endParaRPr sz="1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80145" y="3498849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Panduan singkat tentang izin, dokumen, proses, dan manfaat.</a:t>
            </a:r>
            <a:endParaRPr sz="7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780145" y="4138930"/>
            <a:ext cx="2514600" cy="777240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80145" y="4436110"/>
            <a:ext cx="2514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96969"/>
                </a:solidFill>
                <a:latin typeface="Aptos"/>
              </a:rPr>
              <a:t>SERVICE VISUAL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80145" y="5117337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1">
                <a:solidFill>
                  <a:srgbClr val="BF9124"/>
                </a:solidFill>
                <a:latin typeface="Aptos"/>
              </a:rPr>
              <a:t>01</a:t>
            </a:r>
            <a:endParaRPr sz="6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37345" y="5117337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Problem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80145" y="5528817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1">
                <a:solidFill>
                  <a:srgbClr val="BF9124"/>
                </a:solidFill>
                <a:latin typeface="Aptos"/>
              </a:rPr>
              <a:t>02</a:t>
            </a:r>
            <a:endParaRPr sz="6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237345" y="5528817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Solution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80145" y="594029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" b="1">
                <a:solidFill>
                  <a:srgbClr val="BF9124"/>
                </a:solidFill>
                <a:latin typeface="Aptos"/>
              </a:rPr>
              <a:t>03</a:t>
            </a:r>
            <a:endParaRPr sz="6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237345" y="594029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Aptos"/>
              </a:rPr>
              <a:t>Process</a:t>
            </a:r>
            <a:endParaRPr sz="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780145" y="6351778"/>
            <a:ext cx="2514600" cy="310896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80145" y="6434074"/>
            <a:ext cx="2514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KONSULTASI SEKARANG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Mockup — Article / Knowledge Hub</a:t>
            </a:r>
            <a:endParaRPr sz="27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Artikel dibuat bukan sebagai blog tambahan, tetapi sebagai pintu masuk customer yang sedang mencari solusi.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2048255"/>
            <a:ext cx="7315200" cy="438912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7315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7315200" cy="310896"/>
          </a:xfrm>
          <a:prstGeom prst="roundRect">
            <a:avLst/>
          </a:prstGeom>
          <a:solidFill>
            <a:srgbClr val="F2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7568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07568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0704" y="2075688"/>
            <a:ext cx="73152" cy="73152"/>
          </a:xfrm>
          <a:prstGeom prst="roundRect">
            <a:avLst/>
          </a:prstGeom>
          <a:solidFill>
            <a:srgbClr val="BEB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048255"/>
            <a:ext cx="6400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bumimakmurwardana.com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BMW</a:t>
            </a:r>
            <a:endParaRPr sz="1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459736"/>
            <a:ext cx="2651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6969"/>
                </a:solidFill>
                <a:latin typeface="Aptos"/>
              </a:rPr>
              <a:t>COMPANY    SERVICES    ARTICLES    CLIENTS</a:t>
            </a:r>
            <a:endParaRPr sz="750" b="1">
              <a:solidFill>
                <a:srgbClr val="6969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0" y="2404872"/>
            <a:ext cx="868680" cy="256032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79"/>
            <a:ext cx="8686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191919"/>
                </a:solidFill>
                <a:latin typeface="Aptos"/>
              </a:rPr>
              <a:t>CONTACT</a:t>
            </a:r>
            <a:endParaRPr sz="6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INSIGHTS FOR BUSINESS</a:t>
            </a:r>
            <a:endParaRPr sz="2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282696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Pelajari layanan kami sebelum Anda mengambil keputusan.</a:t>
            </a:r>
            <a:endParaRPr sz="8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4400" y="3767328"/>
            <a:ext cx="30175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767328"/>
            <a:ext cx="914400" cy="10241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393192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ptos"/>
              </a:rPr>
              <a:t>Business Permit</a:t>
            </a:r>
            <a:endParaRPr sz="7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65960" y="424281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Apa saja izin yang dibutuhkan perusahaan?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60520" y="3767328"/>
            <a:ext cx="30175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3767328"/>
            <a:ext cx="914400" cy="10241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9" y="393192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ptos"/>
              </a:rPr>
              <a:t>Tax Consulting</a:t>
            </a:r>
            <a:endParaRPr sz="7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24281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Cara menjaga kepatuhan pajak bisnis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" y="5001768"/>
            <a:ext cx="30175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5001768"/>
            <a:ext cx="914400" cy="10241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516636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ptos"/>
              </a:rPr>
              <a:t>Compliance Audit</a:t>
            </a:r>
            <a:endParaRPr sz="7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65960" y="547725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Checklist audit kepatuhan perusahaan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160520" y="5001768"/>
            <a:ext cx="30175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60520" y="5001768"/>
            <a:ext cx="914400" cy="10241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9" y="516636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ptos"/>
              </a:rPr>
              <a:t>CSR Planning</a:t>
            </a:r>
            <a:endParaRPr sz="7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12079" y="5477256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>
                <a:solidFill>
                  <a:srgbClr val="696969"/>
                </a:solidFill>
                <a:latin typeface="Aptos"/>
              </a:rPr>
              <a:t>Kenapa pemetaan sosial penting?</a:t>
            </a:r>
            <a:endParaRPr sz="65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522208" y="2048255"/>
            <a:ext cx="2971800" cy="4389120"/>
          </a:xfrm>
          <a:prstGeom prst="roundRect">
            <a:avLst/>
          </a:prstGeom>
          <a:solidFill>
            <a:srgbClr val="D2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58200" y="1965960"/>
            <a:ext cx="2971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24060" y="2057400"/>
            <a:ext cx="640080" cy="109728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4504" y="2112264"/>
            <a:ext cx="26791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" b="0">
                <a:solidFill>
                  <a:srgbClr val="696969"/>
                </a:solidFill>
                <a:latin typeface="Aptos"/>
              </a:rPr>
              <a:t>9:41     ▪︎  ▪︎  ▪︎</a:t>
            </a:r>
            <a:endParaRPr sz="5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41080" y="2395727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Aptos"/>
              </a:rPr>
              <a:t>BMW</a:t>
            </a:r>
            <a:endParaRPr sz="9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808207" y="2377439"/>
            <a:ext cx="292608" cy="219456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08207" y="2404871"/>
            <a:ext cx="29260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☰</a:t>
            </a:r>
            <a:endParaRPr sz="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86800" y="2852928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INSIGHTS
FOR BUSINESS</a:t>
            </a:r>
            <a:endParaRPr sz="16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686800" y="3584448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0" y="3584448"/>
            <a:ext cx="502920" cy="5669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3694176"/>
            <a:ext cx="16916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70" b="1">
                <a:solidFill>
                  <a:srgbClr val="191919"/>
                </a:solidFill>
                <a:latin typeface="Aptos"/>
              </a:rPr>
              <a:t>Business Permit</a:t>
            </a:r>
            <a:endParaRPr sz="67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99448" y="38953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Apa saja izin yang dibutuhkan perusahaan?</a:t>
            </a:r>
            <a:endParaRPr sz="58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686800" y="4270248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86800" y="4270248"/>
            <a:ext cx="502920" cy="5669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4379976"/>
            <a:ext cx="16916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70" b="1">
                <a:solidFill>
                  <a:srgbClr val="191919"/>
                </a:solidFill>
                <a:latin typeface="Aptos"/>
              </a:rPr>
              <a:t>Tax Consulting</a:t>
            </a:r>
            <a:endParaRPr sz="67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99448" y="45811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Cara menjaga kepatuhan pajak bisnis</a:t>
            </a:r>
            <a:endParaRPr sz="58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686800" y="4956048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86800" y="4956048"/>
            <a:ext cx="502920" cy="5669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9448" y="5065776"/>
            <a:ext cx="16916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70" b="1">
                <a:solidFill>
                  <a:srgbClr val="191919"/>
                </a:solidFill>
                <a:latin typeface="Aptos"/>
              </a:rPr>
              <a:t>Compliance Audit</a:t>
            </a:r>
            <a:endParaRPr sz="67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99448" y="52669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Checklist audit kepatuhan perusahaan</a:t>
            </a:r>
            <a:endParaRPr sz="58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686800" y="5641848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686800" y="5641848"/>
            <a:ext cx="502920" cy="566928"/>
          </a:xfrm>
          <a:prstGeom prst="round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5751576"/>
            <a:ext cx="16916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70" b="1">
                <a:solidFill>
                  <a:srgbClr val="191919"/>
                </a:solidFill>
                <a:latin typeface="Aptos"/>
              </a:rPr>
              <a:t>CSR Planning</a:t>
            </a:r>
            <a:endParaRPr sz="67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299448" y="59527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696969"/>
                </a:solidFill>
                <a:latin typeface="Aptos"/>
              </a:rPr>
              <a:t>Kenapa pemetaan sosial penting?</a:t>
            </a:r>
            <a:endParaRPr sz="580" b="0">
              <a:solidFill>
                <a:srgbClr val="6969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65836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Desktop + Mobile</a:t>
            </a:r>
            <a:endParaRPr sz="28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Visual dibuat untuk menunjukkan bentuk website yang akan diterima client, bukan sekadar wireframe.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7432B"/>
                </a:solidFill>
                <a:latin typeface="Aptos"/>
              </a:rPr>
              <a:t>Desktop: hero + trust metrics + CTA</a:t>
            </a:r>
            <a:endParaRPr sz="85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0" y="62362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432B"/>
                </a:solidFill>
                <a:latin typeface="Aptos"/>
              </a:rPr>
              <a:t>Mobile: stacked + swipe</a:t>
            </a:r>
            <a:endParaRPr sz="850" b="1">
              <a:solidFill>
                <a:srgbClr val="27432B"/>
              </a:solidFill>
              <a:latin typeface="Aptos"/>
            </a:endParaRPr>
          </a:p>
        </p:txBody>
      </p:sp>
      <p:pic>
        <p:nvPicPr>
          <p:cNvPr id="10" name="Picture 9" descr="home_mobile.png"/>
          <p:cNvPicPr>
            <a:picLocks noChangeAspect="1"/>
          </p:cNvPicPr>
          <p:nvPr/>
        </p:nvPicPr>
        <p:blipFill>
          <a:blip r:embed="rId1"/>
          <a:srcRect l="32804" t="4647" r="18644" b="-4647"/>
          <a:stretch>
            <a:fillRect/>
          </a:stretch>
        </p:blipFill>
        <p:spPr>
          <a:xfrm>
            <a:off x="7474585" y="2203450"/>
            <a:ext cx="2523490" cy="3703320"/>
          </a:xfrm>
          <a:prstGeom prst="rect">
            <a:avLst/>
          </a:prstGeom>
        </p:spPr>
      </p:pic>
      <p:pic>
        <p:nvPicPr>
          <p:cNvPr id="7" name="Picture 6" descr="a_high_resolution_mockup_of_a_corporate_website_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03450"/>
            <a:ext cx="537908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Services Explorer — visual catalog</a:t>
            </a:r>
            <a:endParaRPr sz="28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8790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Setiap kartu layanan memakai foto/ilustrasi, ringkasan, dan tombol “pelajari”.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7432B"/>
                </a:solidFill>
                <a:latin typeface="Aptos"/>
              </a:rPr>
              <a:t>8 layanan → kartu visual → detail service</a:t>
            </a:r>
            <a:endParaRPr sz="85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0" y="62362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432B"/>
                </a:solidFill>
                <a:latin typeface="Aptos"/>
              </a:rPr>
              <a:t>Mobile: 1 kolom</a:t>
            </a:r>
            <a:endParaRPr sz="850" b="1">
              <a:solidFill>
                <a:srgbClr val="27432B"/>
              </a:solidFill>
              <a:latin typeface="Aptos"/>
            </a:endParaRPr>
          </a:p>
        </p:txBody>
      </p:sp>
      <p:pic>
        <p:nvPicPr>
          <p:cNvPr id="7" name="Picture 6" descr="a_high_resolution_mockup_of_a_corporate_website_la.png"/>
          <p:cNvPicPr>
            <a:picLocks noChangeAspect="1"/>
          </p:cNvPicPr>
          <p:nvPr/>
        </p:nvPicPr>
        <p:blipFill>
          <a:blip r:embed="rId1"/>
          <a:srcRect t="27000" b="48000"/>
          <a:stretch>
            <a:fillRect/>
          </a:stretch>
        </p:blipFill>
        <p:spPr>
          <a:xfrm>
            <a:off x="594360" y="2347595"/>
            <a:ext cx="10279380" cy="38976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Visual system: foto, ilustrasi, icon &amp; motion</a:t>
            </a:r>
            <a:endParaRPr sz="28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43532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Supaya website terasa hidup, setiap bagian memakai jenis visual yang punya fungsi.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397125"/>
            <a:ext cx="10789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25141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432B"/>
                </a:solidFill>
                <a:latin typeface="Aptos"/>
              </a:rPr>
              <a:t>HERO / SLIDESHOW</a:t>
            </a:r>
            <a:endParaRPr sz="90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80360" y="250685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91919"/>
                </a:solidFill>
                <a:latin typeface="Aptos"/>
              </a:rPr>
              <a:t>AI-assisted photography • project imagery • wide compositions</a:t>
            </a:r>
            <a:endParaRPr sz="9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35240" y="2506853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Membangun first impression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146933"/>
            <a:ext cx="10789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949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432B"/>
                </a:solidFill>
                <a:latin typeface="Aptos"/>
              </a:rPr>
              <a:t>SERVICE CARDS</a:t>
            </a:r>
            <a:endParaRPr sz="90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0360" y="325666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91919"/>
                </a:solidFill>
                <a:latin typeface="Aptos"/>
              </a:rPr>
              <a:t>Foto layanan + icon line-art</a:t>
            </a:r>
            <a:endParaRPr sz="9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35240" y="325666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Mempermudah scanning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896741"/>
            <a:ext cx="10789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4757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432B"/>
                </a:solidFill>
                <a:latin typeface="Aptos"/>
              </a:rPr>
              <a:t>ARTICLE</a:t>
            </a:r>
            <a:endParaRPr sz="90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0360" y="400646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91919"/>
                </a:solidFill>
                <a:latin typeface="Aptos"/>
              </a:rPr>
              <a:t>Editorial photography + infographic ringan</a:t>
            </a:r>
            <a:endParaRPr sz="9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400646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Membantu edukasi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646549"/>
            <a:ext cx="10789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74565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432B"/>
                </a:solidFill>
                <a:latin typeface="Aptos"/>
              </a:rPr>
              <a:t>PROJECT GALLERY</a:t>
            </a:r>
            <a:endParaRPr sz="90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80360" y="4756277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91919"/>
                </a:solidFill>
                <a:latin typeface="Aptos"/>
              </a:rPr>
              <a:t>Before/after, site, team, field activity</a:t>
            </a:r>
            <a:endParaRPr sz="9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35240" y="475627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Social proof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5396357"/>
            <a:ext cx="10789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24373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432B"/>
                </a:solidFill>
                <a:latin typeface="Aptos"/>
              </a:rPr>
              <a:t>MOTION</a:t>
            </a:r>
            <a:endParaRPr sz="900" b="1">
              <a:solidFill>
                <a:srgbClr val="27432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80360" y="5506085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91919"/>
                </a:solidFill>
                <a:latin typeface="Aptos"/>
              </a:rPr>
              <a:t>Scroll reveal • hover • image transition</a:t>
            </a:r>
            <a:endParaRPr sz="95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35240" y="550608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Memberi rasa premium tanpa berlebihan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Catatan: foto AI digunakan sebagai visual pendukung/concept imagery; foto proyek asli dapat menggantikan setelah materi client tersedia.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6075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BE1E"/>
                </a:solidFill>
                <a:latin typeface="Aptos"/>
              </a:rPr>
              <a:t>THE PROPOSED DIGITAL EXPERIENCE</a:t>
            </a:r>
            <a:endParaRPr sz="11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11835"/>
            <a:ext cx="113709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Aptos"/>
              </a:rPr>
              <a:t>Website yang terlihat premium,
mudah dipahami, dan menjual.</a:t>
            </a:r>
            <a:endParaRPr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56995"/>
            <a:ext cx="106419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3C3C3"/>
                </a:solidFill>
                <a:latin typeface="Aptos"/>
              </a:rPr>
              <a:t>Hero slideshow  •  Service explorer  •  Service articles  •  Project gallery  •  Mobile-first  •  WhatsApp CTA</a:t>
            </a:r>
            <a:endParaRPr sz="1100" b="0">
              <a:solidFill>
                <a:srgbClr val="C3C3C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875" y="6363970"/>
            <a:ext cx="983297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Rachmad Hidayat  •  madxartwork.eu.org  •  082136699927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1" name="Picture 10" descr="0ffd8e29-b9d6-4f7d-8464-7cfb24ae709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1617345"/>
            <a:ext cx="3022600" cy="4534535"/>
          </a:xfrm>
          <a:prstGeom prst="rect">
            <a:avLst/>
          </a:prstGeom>
        </p:spPr>
      </p:pic>
      <p:pic>
        <p:nvPicPr>
          <p:cNvPr id="13" name="Picture 12" descr="01852ffd-6d5a-4c64-8587-ce94b6cae58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50" y="1579245"/>
            <a:ext cx="6915785" cy="4610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Investasi pembuatan website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7040880" cy="3660775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BE1E"/>
                </a:solidFill>
                <a:latin typeface="Aptos"/>
              </a:rPr>
              <a:t>WEBSITE COMPANY PROFILE</a:t>
            </a:r>
            <a:endParaRPr sz="11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51206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Rp 3.</a:t>
            </a:r>
            <a:r>
              <a:rPr lang="en-US" sz="3200" b="1">
                <a:solidFill>
                  <a:srgbClr val="FFFFFF"/>
                </a:solidFill>
                <a:latin typeface="Aptos"/>
              </a:rPr>
              <a:t>5</a:t>
            </a:r>
            <a:r>
              <a:rPr sz="3200" b="1">
                <a:solidFill>
                  <a:srgbClr val="FFFFFF"/>
                </a:solidFill>
                <a:latin typeface="Aptos"/>
              </a:rPr>
              <a:t>00.000</a:t>
            </a:r>
            <a:endParaRPr sz="3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730752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BEBE"/>
                </a:solidFill>
                <a:latin typeface="Aptos"/>
              </a:rPr>
              <a:t>Total biaya proyek</a:t>
            </a:r>
            <a:endParaRPr sz="1200" b="0">
              <a:solidFill>
                <a:srgbClr val="BEBEBE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960120" y="4251960"/>
            <a:ext cx="6309360" cy="0"/>
          </a:xfrm>
          <a:prstGeom prst="line">
            <a:avLst/>
          </a:prstGeom>
          <a:ln w="127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4462272"/>
            <a:ext cx="6035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✓  UI/UX &amp; visual direction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4690872"/>
            <a:ext cx="6035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✓  Development responsive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6035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✓  8 service pages + 10 content topics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20" y="5148072"/>
            <a:ext cx="6035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✓  Basic SEO + contact/CTA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" y="5376672"/>
            <a:ext cx="6035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✓  QA, revisi &amp; launch support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9124"/>
                </a:solidFill>
                <a:latin typeface="Aptos"/>
              </a:rPr>
              <a:t>TERMS</a:t>
            </a:r>
            <a:endParaRPr sz="1100" b="1">
              <a:solidFill>
                <a:srgbClr val="BF912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20" y="27432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Pembayaran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320" y="301752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50% DP • 50% sebelum launch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5320" y="34564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Revisi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20" y="373075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Maks. 2 ronde revisi utama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75320" y="416966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Materi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4443984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Logo, foto, data &amp; dokumen disediakan client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320" y="488289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Hosting/Domain</a:t>
            </a:r>
            <a:endParaRPr sz="11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75320" y="515721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Jika belum tersedia, dibahas terpisah</a:t>
            </a:r>
            <a:endParaRPr sz="1000" b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BE1E"/>
                </a:solidFill>
                <a:latin typeface="Aptos"/>
              </a:rPr>
              <a:t>LET'S BUILD A BETTER DIGITAL FRONT DOOR</a:t>
            </a:r>
            <a:endParaRPr sz="1200" b="1">
              <a:solidFill>
                <a:srgbClr val="F5BE1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863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Siap membuat
Bumi Makmur Wardana lebih mudah dipahami.</a:t>
            </a:r>
            <a:endParaRPr sz="3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3C3C3"/>
                </a:solidFill>
                <a:latin typeface="Aptos"/>
              </a:rPr>
              <a:t>Website yang bukan hanya terlihat profesional,
tapi membantu customer memahami dan memilih layanan.</a:t>
            </a:r>
            <a:endParaRPr sz="1500" b="0">
              <a:solidFill>
                <a:srgbClr val="C3C3C3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617720"/>
            <a:ext cx="5212080" cy="1051560"/>
          </a:xfrm>
          <a:prstGeom prst="round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2803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Rachmad Hidayat</a:t>
            </a:r>
            <a:endParaRPr sz="16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184648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91919"/>
                </a:solidFill>
                <a:latin typeface="Aptos"/>
              </a:rPr>
              <a:t>madxartwork.eu.org  •  082136699927</a:t>
            </a:r>
            <a:endParaRPr sz="1000" b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0" y="640080"/>
            <a:ext cx="2103120" cy="5394960"/>
          </a:xfrm>
          <a:prstGeom prst="roundRect">
            <a:avLst/>
          </a:prstGeom>
          <a:solidFill>
            <a:srgbClr val="191919"/>
          </a:solidFill>
          <a:ln>
            <a:solidFill>
              <a:srgbClr val="BF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64040" y="1051560"/>
            <a:ext cx="146304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1801367"/>
            <a:ext cx="146304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4040" y="2551176"/>
            <a:ext cx="146304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64040" y="3300984"/>
            <a:ext cx="146304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050791"/>
            <a:ext cx="146304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4800600"/>
            <a:ext cx="1463040" cy="109728"/>
          </a:xfrm>
          <a:prstGeom prst="rect">
            <a:avLst/>
          </a:prstGeom>
          <a:solidFill>
            <a:srgbClr val="F5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ptos"/>
              </a:rPr>
              <a:t>Rachmad Hidayat  •  madxartwork.eu.org  •  082136699927</a:t>
            </a:r>
            <a:endParaRPr sz="800" b="0">
              <a:solidFill>
                <a:srgbClr val="666666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9479</Words>
  <Application>WPS Presentation</Application>
  <PresentationFormat>On-screen Show (4:3)</PresentationFormat>
  <Paragraphs>656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Aptos</vt:lpstr>
      <vt:lpstr>Calibri</vt:lpstr>
      <vt:lpstr>Atkinson Hyperlegible Mono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Madx-Asus</cp:lastModifiedBy>
  <cp:revision>17</cp:revision>
  <dcterms:created xsi:type="dcterms:W3CDTF">2013-01-27T09:14:00Z</dcterms:created>
  <dcterms:modified xsi:type="dcterms:W3CDTF">2026-08-29T14:49:53Z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1033-10.2.0.7646</vt:lpwstr>
  </property>
</Properties>
</file>